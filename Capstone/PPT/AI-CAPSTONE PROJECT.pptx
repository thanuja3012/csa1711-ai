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7" r:id="rId3"/>
    <p:sldId id="257" r:id="rId4"/>
    <p:sldId id="258" r:id="rId5"/>
    <p:sldId id="278" r:id="rId6"/>
    <p:sldId id="261" r:id="rId7"/>
    <p:sldId id="263" r:id="rId8"/>
    <p:sldId id="271" r:id="rId9"/>
    <p:sldId id="264" r:id="rId10"/>
    <p:sldId id="272" r:id="rId11"/>
    <p:sldId id="280" r:id="rId12"/>
    <p:sldId id="282" r:id="rId13"/>
    <p:sldId id="284" r:id="rId14"/>
    <p:sldId id="269" r:id="rId15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bhoji thanuja" userId="6149cb11555c926b" providerId="LiveId" clId="{B094106B-5EDF-48AF-AD57-6D6CDA03C718}"/>
    <pc:docChg chg="custSel modSld">
      <pc:chgData name="kambhoji thanuja" userId="6149cb11555c926b" providerId="LiveId" clId="{B094106B-5EDF-48AF-AD57-6D6CDA03C718}" dt="2026-08-27T03:23:39.311" v="6" actId="14100"/>
      <pc:docMkLst>
        <pc:docMk/>
      </pc:docMkLst>
      <pc:sldChg chg="addSp delSp modSp mod">
        <pc:chgData name="kambhoji thanuja" userId="6149cb11555c926b" providerId="LiveId" clId="{B094106B-5EDF-48AF-AD57-6D6CDA03C718}" dt="2026-08-27T03:23:39.311" v="6" actId="14100"/>
        <pc:sldMkLst>
          <pc:docMk/>
          <pc:sldMk cId="0" sldId="261"/>
        </pc:sldMkLst>
        <pc:picChg chg="del">
          <ac:chgData name="kambhoji thanuja" userId="6149cb11555c926b" providerId="LiveId" clId="{B094106B-5EDF-48AF-AD57-6D6CDA03C718}" dt="2026-08-27T03:23:22.464" v="0" actId="478"/>
          <ac:picMkLst>
            <pc:docMk/>
            <pc:sldMk cId="0" sldId="261"/>
            <ac:picMk id="4" creationId="{9BEEE0CA-BA3F-655B-0C92-8C1C58D5E425}"/>
          </ac:picMkLst>
        </pc:picChg>
        <pc:picChg chg="add mod">
          <ac:chgData name="kambhoji thanuja" userId="6149cb11555c926b" providerId="LiveId" clId="{B094106B-5EDF-48AF-AD57-6D6CDA03C718}" dt="2026-08-27T03:23:39.311" v="6" actId="14100"/>
          <ac:picMkLst>
            <pc:docMk/>
            <pc:sldMk cId="0" sldId="261"/>
            <ac:picMk id="5" creationId="{4406FA9C-C73D-9902-000D-EB525B722E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07625" y="3657600"/>
            <a:ext cx="7162800" cy="662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?utm_source=chatgpt.com" TargetMode="External"/><Relationship Id="rId2" Type="http://schemas.openxmlformats.org/officeDocument/2006/relationships/hyperlink" Target="https://docs.opencv.org/?utm_source=chatgpt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hyperlink" Target="https://flask.palletsprojects.com/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3837745" y="1025690"/>
            <a:ext cx="10312388" cy="140264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99" name="TextBox 7"/>
          <p:cNvSpPr txBox="1"/>
          <p:nvPr/>
        </p:nvSpPr>
        <p:spPr>
          <a:xfrm>
            <a:off x="2196179" y="3241766"/>
            <a:ext cx="12922250" cy="761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700"/>
              </a:lnSpc>
              <a:defRPr sz="39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Face Recognition Attendance System</a:t>
            </a:r>
            <a:endParaRPr lang="en-US" dirty="0"/>
          </a:p>
        </p:txBody>
      </p:sp>
      <p:sp>
        <p:nvSpPr>
          <p:cNvPr id="100" name="TextBox 8"/>
          <p:cNvSpPr txBox="1"/>
          <p:nvPr/>
        </p:nvSpPr>
        <p:spPr>
          <a:xfrm>
            <a:off x="4462865" y="5578438"/>
            <a:ext cx="9362270" cy="1913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" marR="5080" indent="635" algn="ctr"/>
            <a:r>
              <a:rPr lang="en-US" sz="2800" b="1" dirty="0">
                <a:latin typeface="Times New Roman"/>
                <a:cs typeface="Times New Roman"/>
              </a:rPr>
              <a:t>CSA17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635" algn="ctr">
              <a:lnSpc>
                <a:spcPct val="117900"/>
              </a:lnSpc>
            </a:pPr>
            <a:r>
              <a:rPr lang="en-US" sz="2800" b="1" dirty="0">
                <a:latin typeface="Times New Roman"/>
                <a:cs typeface="Times New Roman"/>
              </a:rPr>
              <a:t>Course</a:t>
            </a:r>
            <a:r>
              <a:rPr lang="en-US" sz="2800" b="1" spc="-45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Faculty</a:t>
            </a:r>
            <a:r>
              <a:rPr lang="en-US" sz="2800" b="1" spc="-35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:</a:t>
            </a:r>
            <a:r>
              <a:rPr lang="en-US" sz="2800" b="1" spc="-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Dr. </a:t>
            </a:r>
            <a:r>
              <a:rPr lang="en-US" sz="2800" spc="-35" dirty="0">
                <a:latin typeface="Times New Roman"/>
                <a:cs typeface="Times New Roman"/>
              </a:rPr>
              <a:t>Krishna Kumar Kathiresan</a:t>
            </a:r>
            <a:r>
              <a:rPr lang="en-US" sz="2800" spc="-10" dirty="0">
                <a:latin typeface="Times New Roman"/>
                <a:cs typeface="Times New Roman"/>
              </a:rPr>
              <a:t>, </a:t>
            </a:r>
            <a:r>
              <a:rPr lang="en-US" sz="2800" dirty="0">
                <a:latin typeface="Times New Roman"/>
                <a:cs typeface="Times New Roman"/>
              </a:rPr>
              <a:t>Professor,</a:t>
            </a:r>
            <a:r>
              <a:rPr lang="en-US" sz="2800" spc="-10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SIMATS</a:t>
            </a:r>
            <a:r>
              <a:rPr lang="en-US" sz="2800" spc="-10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Engineering,</a:t>
            </a:r>
            <a:r>
              <a:rPr lang="en-US" sz="2800" spc="-10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SIMATS</a:t>
            </a:r>
            <a:endParaRPr lang="en-US" sz="2800" dirty="0">
              <a:latin typeface="Times New Roman"/>
              <a:cs typeface="Times New Roman"/>
            </a:endParaRPr>
          </a:p>
          <a:p>
            <a:pPr marL="12700" marR="5080" indent="635" algn="ctr">
              <a:lnSpc>
                <a:spcPct val="117900"/>
              </a:lnSpc>
            </a:pPr>
            <a:endParaRPr lang="en-US" sz="2800" b="1" dirty="0">
              <a:latin typeface="Times New Roman"/>
              <a:cs typeface="Times New Roman"/>
            </a:endParaRPr>
          </a:p>
        </p:txBody>
      </p:sp>
      <p:sp>
        <p:nvSpPr>
          <p:cNvPr id="101" name="PRESENTED BY:"/>
          <p:cNvSpPr txBox="1"/>
          <p:nvPr/>
        </p:nvSpPr>
        <p:spPr>
          <a:xfrm>
            <a:off x="12861103" y="7626578"/>
            <a:ext cx="4084794" cy="168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PRESENTED BY:</a:t>
            </a:r>
            <a:endParaRPr lang="en-IN" dirty="0"/>
          </a:p>
          <a:p>
            <a:r>
              <a:rPr lang="en-IN" dirty="0"/>
              <a:t>B.Bhargavi-1923211136</a:t>
            </a:r>
          </a:p>
          <a:p>
            <a:r>
              <a:rPr lang="en-IN" dirty="0" err="1"/>
              <a:t>Komboji</a:t>
            </a:r>
            <a:r>
              <a:rPr lang="en-IN" dirty="0"/>
              <a:t> Thanuja-192373012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4E4DA3-7AB1-C65F-D368-B0D79B1D7339}"/>
              </a:ext>
            </a:extLst>
          </p:cNvPr>
          <p:cNvSpPr txBox="1"/>
          <p:nvPr/>
        </p:nvSpPr>
        <p:spPr>
          <a:xfrm>
            <a:off x="270492" y="1570705"/>
            <a:ext cx="12182168" cy="83715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600" dirty="0"/>
              <a:t>•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Face Recognition Attendance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and automated system designed to record and manage student attendance using Artificial Intelligence and face recognition technology.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captures student faces using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webcam/camera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identifies registered students automatically.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facial feature extraction and matching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recognize students and mark their attendance.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attendance details such as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name, ID, date, time, and attendance status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stored in a centralized database.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work, save time, improve attendance accuracy, and prevent proxy attendance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also 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reports and performance monitoring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teachers and administrators</a:t>
            </a:r>
            <a:r>
              <a:rPr lang="en-IN" sz="36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019C9-543D-EE14-CE85-37BDF6B54CFF}"/>
              </a:ext>
            </a:extLst>
          </p:cNvPr>
          <p:cNvSpPr txBox="1"/>
          <p:nvPr/>
        </p:nvSpPr>
        <p:spPr>
          <a:xfrm>
            <a:off x="5132439" y="678426"/>
            <a:ext cx="5530645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45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ABSTRACT</a:t>
            </a:r>
          </a:p>
        </p:txBody>
      </p:sp>
      <p:pic>
        <p:nvPicPr>
          <p:cNvPr id="6" name="Picture 5" descr="Key Metrics for Tracking Student Success - eduTinker">
            <a:extLst>
              <a:ext uri="{FF2B5EF4-FFF2-40B4-BE49-F238E27FC236}">
                <a16:creationId xmlns:a16="http://schemas.microsoft.com/office/drawing/2014/main" id="{BE6333A8-D4F5-1166-ADCE-0E319A53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660" y="2507226"/>
            <a:ext cx="5215908" cy="6209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FA992D-170B-B06A-AE15-502986C7530F}"/>
              </a:ext>
            </a:extLst>
          </p:cNvPr>
          <p:cNvSpPr txBox="1"/>
          <p:nvPr/>
        </p:nvSpPr>
        <p:spPr>
          <a:xfrm>
            <a:off x="7897761" y="9808502"/>
            <a:ext cx="4173793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CSA1711-01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5791388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2"/>
          <p:cNvSpPr txBox="1"/>
          <p:nvPr/>
        </p:nvSpPr>
        <p:spPr>
          <a:xfrm>
            <a:off x="781105" y="2965307"/>
            <a:ext cx="16105239" cy="576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Face Recognition Attendance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automated system developed to simplify the process of recording student attendance.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attendance methods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registers and roll calls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more time and may lead to errors.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system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Computer Vision, and Face Recognition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students through a camera.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student’s face is first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and stored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system for future identification.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During attendance, the camera captures the student’s face and compares it with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facial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When a student is recognized, the system automatically records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ID, name, date, and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attendance data is stored in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easy for teachers to view and manage records.</a:t>
            </a:r>
          </a:p>
          <a:p>
            <a:pPr defTabSz="457200">
              <a:lnSpc>
                <a:spcPct val="120000"/>
              </a:lnSpc>
              <a:defRPr sz="35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sp>
        <p:nvSpPr>
          <p:cNvPr id="104" name="Freeform 3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5" name="Freeform 4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6" name="TextBox 5"/>
          <p:cNvSpPr txBox="1"/>
          <p:nvPr/>
        </p:nvSpPr>
        <p:spPr>
          <a:xfrm>
            <a:off x="5860689" y="963501"/>
            <a:ext cx="6566622" cy="885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INTRODUCTION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4ECCC-7B32-9A79-1BA9-5D63F69E44E4}"/>
              </a:ext>
            </a:extLst>
          </p:cNvPr>
          <p:cNvSpPr txBox="1"/>
          <p:nvPr/>
        </p:nvSpPr>
        <p:spPr>
          <a:xfrm>
            <a:off x="7742903" y="9640673"/>
            <a:ext cx="3746090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CSA1711-02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2"/>
          <p:cNvSpPr txBox="1"/>
          <p:nvPr/>
        </p:nvSpPr>
        <p:spPr>
          <a:xfrm>
            <a:off x="566401" y="2287761"/>
            <a:ext cx="15709858" cy="7386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attendance systems require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time-consuming for teachers.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attendance can lead to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incorrect marking or missing records.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occur when one student marks attendance for another student.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Maintaining attendance records manually becomes difficult when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students is large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quickly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update, and generate attendance reports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paper-based methods.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Therefore, an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Face Recognition Attendance System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proposed to automatically recognize students and record their attendance accurately and efficiently.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Freeform 3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0" name="Freeform 4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1" name="TextBox 5"/>
          <p:cNvSpPr txBox="1"/>
          <p:nvPr/>
        </p:nvSpPr>
        <p:spPr>
          <a:xfrm>
            <a:off x="4961037" y="21191"/>
            <a:ext cx="6566622" cy="885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293AF1-0B89-5F55-55E0-A57A846F4AAD}"/>
              </a:ext>
            </a:extLst>
          </p:cNvPr>
          <p:cNvSpPr txBox="1"/>
          <p:nvPr/>
        </p:nvSpPr>
        <p:spPr>
          <a:xfrm>
            <a:off x="7447935" y="9791627"/>
            <a:ext cx="5191433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CSA1711-04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BE3CB9-4B67-5A95-AE1F-EE485A15C4FD}"/>
              </a:ext>
            </a:extLst>
          </p:cNvPr>
          <p:cNvSpPr txBox="1"/>
          <p:nvPr/>
        </p:nvSpPr>
        <p:spPr>
          <a:xfrm>
            <a:off x="339214" y="2079108"/>
            <a:ext cx="11975691" cy="79098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automatic student attendance management.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recognize students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facial recognition technology.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automatically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 registered student is recognized.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work, time, and human errors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attendance recording.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help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proxy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verifying the student’s face.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securely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attendance records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student details, date, and time.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attendance reports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teachers and administrators.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efficiency, and reliability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attendance process.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08E42-5BA9-6A86-96C7-3F5C3663B3EC}"/>
              </a:ext>
            </a:extLst>
          </p:cNvPr>
          <p:cNvSpPr txBox="1"/>
          <p:nvPr/>
        </p:nvSpPr>
        <p:spPr>
          <a:xfrm>
            <a:off x="5368413" y="781664"/>
            <a:ext cx="4572000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45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OBJECTIVES</a:t>
            </a:r>
          </a:p>
        </p:txBody>
      </p:sp>
      <p:pic>
        <p:nvPicPr>
          <p:cNvPr id="7" name="Picture 6" descr="Student Performance Prediction">
            <a:extLst>
              <a:ext uri="{FF2B5EF4-FFF2-40B4-BE49-F238E27FC236}">
                <a16:creationId xmlns:a16="http://schemas.microsoft.com/office/drawing/2014/main" id="{7487348B-2B32-6976-EF40-FF601CE6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793" y="2300332"/>
            <a:ext cx="5043993" cy="60170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823FAC-0400-BBCD-B5CB-97129F4DFD51}"/>
              </a:ext>
            </a:extLst>
          </p:cNvPr>
          <p:cNvSpPr txBox="1"/>
          <p:nvPr/>
        </p:nvSpPr>
        <p:spPr>
          <a:xfrm>
            <a:off x="7964131" y="9917672"/>
            <a:ext cx="4350774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CSA1711-05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3015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 3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24" name="Freeform 4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25" name="TextBox 5"/>
          <p:cNvSpPr txBox="1"/>
          <p:nvPr/>
        </p:nvSpPr>
        <p:spPr>
          <a:xfrm>
            <a:off x="2850098" y="963502"/>
            <a:ext cx="12242680" cy="885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SYSTEM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1AC127-5803-6675-6608-196AF8BE536C}"/>
              </a:ext>
            </a:extLst>
          </p:cNvPr>
          <p:cNvSpPr txBox="1"/>
          <p:nvPr/>
        </p:nvSpPr>
        <p:spPr>
          <a:xfrm>
            <a:off x="7034979" y="9662488"/>
            <a:ext cx="3908322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CSA1711-06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6FA9C-C73D-9902-000D-EB525B722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10" y="2345874"/>
            <a:ext cx="16783664" cy="731661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2"/>
          <p:cNvSpPr txBox="1"/>
          <p:nvPr/>
        </p:nvSpPr>
        <p:spPr>
          <a:xfrm>
            <a:off x="718938" y="3062913"/>
            <a:ext cx="15979005" cy="6463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The module is responsible for </a:t>
            </a:r>
            <a:r>
              <a:rPr lang="en-IN" sz="2800" b="1" dirty="0"/>
              <a:t>registering student information</a:t>
            </a:r>
            <a:r>
              <a:rPr lang="en-IN" sz="2800" dirty="0"/>
              <a:t> in the system.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The admin can enter details such as </a:t>
            </a:r>
            <a:r>
              <a:rPr lang="en-IN" sz="2800" b="1" dirty="0"/>
              <a:t>Student ID, Name, Department, Year, and Section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The system uses a </a:t>
            </a:r>
            <a:r>
              <a:rPr lang="en-IN" sz="2800" b="1" dirty="0"/>
              <a:t>webcam to capture multiple images</a:t>
            </a:r>
            <a:r>
              <a:rPr lang="en-IN" sz="2800" dirty="0"/>
              <a:t> of each student.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The captured images are processed using </a:t>
            </a:r>
            <a:r>
              <a:rPr lang="en-IN" sz="2800" b="1" dirty="0"/>
              <a:t>image processing techniques</a:t>
            </a:r>
            <a:r>
              <a:rPr lang="en-IN" sz="2800" dirty="0"/>
              <a:t> to improve recognition accuracy.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The system detects the student’s </a:t>
            </a:r>
            <a:r>
              <a:rPr lang="en-IN" sz="2800" b="1" dirty="0"/>
              <a:t>face from the captured image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Facial features are extracted using </a:t>
            </a:r>
            <a:r>
              <a:rPr lang="en-IN" sz="2800" b="1" dirty="0"/>
              <a:t>AI-based face recognition techniques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The extracted facial features are converted into </a:t>
            </a:r>
            <a:r>
              <a:rPr lang="en-IN" sz="2800" b="1" dirty="0"/>
              <a:t>face embeddings</a:t>
            </a:r>
            <a:r>
              <a:rPr lang="en-IN" sz="2800" dirty="0"/>
              <a:t> and stored securely.</a:t>
            </a:r>
          </a:p>
          <a:p>
            <a:pPr lvl="0"/>
            <a:endParaRPr lang="en-IN" sz="2800" dirty="0"/>
          </a:p>
        </p:txBody>
      </p:sp>
      <p:sp>
        <p:nvSpPr>
          <p:cNvPr id="134" name="Freeform 3"/>
          <p:cNvSpPr/>
          <p:nvPr/>
        </p:nvSpPr>
        <p:spPr>
          <a:xfrm>
            <a:off x="718938" y="464002"/>
            <a:ext cx="1597818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35" name="Freeform 4"/>
          <p:cNvSpPr/>
          <p:nvPr/>
        </p:nvSpPr>
        <p:spPr>
          <a:xfrm>
            <a:off x="15803663" y="464002"/>
            <a:ext cx="2130423" cy="18818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36" name="TextBox 5"/>
          <p:cNvSpPr txBox="1"/>
          <p:nvPr/>
        </p:nvSpPr>
        <p:spPr>
          <a:xfrm>
            <a:off x="2661902" y="978122"/>
            <a:ext cx="12796615" cy="853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Module 1: Student Registration &amp; Face Recognition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136F0A-BC69-DC75-005B-A19D98DEA6EF}"/>
              </a:ext>
            </a:extLst>
          </p:cNvPr>
          <p:cNvSpPr txBox="1"/>
          <p:nvPr/>
        </p:nvSpPr>
        <p:spPr>
          <a:xfrm>
            <a:off x="7049730" y="9640673"/>
            <a:ext cx="2993922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CSA1711-07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F0FFE2-8B8E-C902-D6E7-21DA823330BA}"/>
              </a:ext>
            </a:extLst>
          </p:cNvPr>
          <p:cNvSpPr txBox="1"/>
          <p:nvPr/>
        </p:nvSpPr>
        <p:spPr>
          <a:xfrm>
            <a:off x="7905136" y="9850622"/>
            <a:ext cx="4070555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CSA1711-08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5C261-B291-E498-DF26-6F3333EF1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80"/>
            <a:ext cx="18288000" cy="967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0977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2"/>
          <p:cNvSpPr txBox="1"/>
          <p:nvPr/>
        </p:nvSpPr>
        <p:spPr>
          <a:xfrm>
            <a:off x="461322" y="2958249"/>
            <a:ext cx="15979005" cy="6463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IN" sz="2800" dirty="0"/>
              <a:t>• This module is responsible for </a:t>
            </a:r>
            <a:r>
              <a:rPr lang="en-IN" sz="2800" b="1" dirty="0"/>
              <a:t>automatically recording and managing student attendance</a:t>
            </a:r>
            <a:r>
              <a:rPr lang="en-IN" sz="2800" dirty="0"/>
              <a:t>.</a:t>
            </a:r>
          </a:p>
          <a:p>
            <a:r>
              <a:rPr lang="en-IN" sz="2800" dirty="0"/>
              <a:t>• Once a student is recognized, the system automatically marks the student as </a:t>
            </a:r>
            <a:r>
              <a:rPr lang="en-IN" sz="2800" b="1" dirty="0"/>
              <a:t>Present</a:t>
            </a:r>
            <a:r>
              <a:rPr lang="en-IN" sz="2800" dirty="0"/>
              <a:t>.</a:t>
            </a:r>
          </a:p>
          <a:p>
            <a:r>
              <a:rPr lang="en-IN" sz="2800" dirty="0"/>
              <a:t>• The system records important details such as </a:t>
            </a:r>
            <a:r>
              <a:rPr lang="en-IN" sz="2800" b="1" dirty="0"/>
              <a:t>Student ID, Name, Date, Time, and Attendance Status</a:t>
            </a:r>
            <a:r>
              <a:rPr lang="en-IN" sz="2800" dirty="0"/>
              <a:t>.</a:t>
            </a:r>
          </a:p>
          <a:p>
            <a:r>
              <a:rPr lang="en-IN" sz="2800" dirty="0"/>
              <a:t>• Attendance information is stored in a </a:t>
            </a:r>
            <a:r>
              <a:rPr lang="en-IN" sz="2800" b="1" dirty="0"/>
              <a:t>centralized database</a:t>
            </a:r>
            <a:r>
              <a:rPr lang="en-IN" sz="2800" dirty="0"/>
              <a:t> for future use.</a:t>
            </a:r>
          </a:p>
          <a:p>
            <a:r>
              <a:rPr lang="en-IN" sz="2800" dirty="0"/>
              <a:t>• The system prevents </a:t>
            </a:r>
            <a:r>
              <a:rPr lang="en-IN" sz="2800" b="1" dirty="0"/>
              <a:t>duplicate attendance</a:t>
            </a:r>
            <a:r>
              <a:rPr lang="en-IN" sz="2800" dirty="0"/>
              <a:t> from being recorded for the same student on the same day.</a:t>
            </a:r>
          </a:p>
          <a:p>
            <a:r>
              <a:rPr lang="en-IN" sz="2800" dirty="0"/>
              <a:t>• Teachers or administrators can </a:t>
            </a:r>
            <a:r>
              <a:rPr lang="en-IN" sz="2800" b="1" dirty="0"/>
              <a:t>view attendance records</a:t>
            </a:r>
            <a:r>
              <a:rPr lang="en-IN" sz="2800" dirty="0"/>
              <a:t> through the system.</a:t>
            </a:r>
          </a:p>
          <a:p>
            <a:r>
              <a:rPr lang="en-IN" sz="2800" dirty="0"/>
              <a:t>• The module provides </a:t>
            </a:r>
            <a:r>
              <a:rPr lang="en-IN" sz="2800" b="1" dirty="0"/>
              <a:t>student-wise, date-wise, and department-wise</a:t>
            </a:r>
          </a:p>
          <a:p>
            <a:r>
              <a:rPr lang="en-IN" sz="2800" b="1" dirty="0"/>
              <a:t> attendance details</a:t>
            </a:r>
            <a:r>
              <a:rPr lang="en-IN" sz="2800" dirty="0"/>
              <a:t>.</a:t>
            </a:r>
          </a:p>
          <a:p>
            <a:r>
              <a:rPr lang="en-IN" sz="2800" dirty="0"/>
              <a:t>• It can calculate the </a:t>
            </a:r>
            <a:r>
              <a:rPr lang="en-IN" sz="2800" b="1" dirty="0"/>
              <a:t>attendance percentage</a:t>
            </a:r>
            <a:r>
              <a:rPr lang="en-IN" sz="2800" dirty="0"/>
              <a:t> of each student.</a:t>
            </a:r>
          </a:p>
          <a:p>
            <a:r>
              <a:rPr lang="en-IN" sz="2800" dirty="0"/>
              <a:t>• The system can generate </a:t>
            </a:r>
            <a:r>
              <a:rPr lang="en-IN" sz="2800" b="1" dirty="0"/>
              <a:t>daily, weekly, and monthly attendance reports</a:t>
            </a:r>
            <a:r>
              <a:rPr lang="en-IN" sz="2800" dirty="0"/>
              <a:t>.</a:t>
            </a:r>
          </a:p>
          <a:p>
            <a:r>
              <a:rPr lang="en-IN" sz="2800" dirty="0"/>
              <a:t>• Attendance reports can be used to identify students with </a:t>
            </a:r>
            <a:r>
              <a:rPr lang="en-IN" sz="2800" b="1" dirty="0"/>
              <a:t>low attendance</a:t>
            </a:r>
            <a:r>
              <a:rPr lang="en-IN" sz="2800" dirty="0"/>
              <a:t>.</a:t>
            </a:r>
          </a:p>
          <a:p>
            <a:r>
              <a:rPr lang="en-IN" sz="2800" dirty="0"/>
              <a:t>• The module reduces </a:t>
            </a:r>
            <a:r>
              <a:rPr lang="en-IN" sz="2800" b="1" dirty="0"/>
              <a:t>manual record keeping and calculation errors</a:t>
            </a:r>
            <a:r>
              <a:rPr lang="en-IN" sz="2800" dirty="0"/>
              <a:t>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Freeform 3"/>
          <p:cNvSpPr/>
          <p:nvPr/>
        </p:nvSpPr>
        <p:spPr>
          <a:xfrm>
            <a:off x="718938" y="464002"/>
            <a:ext cx="1597818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40" name="Freeform 4"/>
          <p:cNvSpPr/>
          <p:nvPr/>
        </p:nvSpPr>
        <p:spPr>
          <a:xfrm>
            <a:off x="15803663" y="464002"/>
            <a:ext cx="2130423" cy="18818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41" name="TextBox 5"/>
          <p:cNvSpPr txBox="1"/>
          <p:nvPr/>
        </p:nvSpPr>
        <p:spPr>
          <a:xfrm>
            <a:off x="2745692" y="569801"/>
            <a:ext cx="12796615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Module 2: Attendance Management &amp; Reporting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33716-2BBC-16B1-3109-EC51BD0AF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1157" y="5447450"/>
            <a:ext cx="4485012" cy="45864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833ED8-21F9-9A91-F062-AE6A7341C831}"/>
              </a:ext>
            </a:extLst>
          </p:cNvPr>
          <p:cNvSpPr txBox="1"/>
          <p:nvPr/>
        </p:nvSpPr>
        <p:spPr>
          <a:xfrm>
            <a:off x="6445045" y="9865369"/>
            <a:ext cx="3392129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CSA1711-09</a:t>
            </a:r>
            <a:endParaRPr lang="en-IN" dirty="0"/>
          </a:p>
          <a:p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85E49-BC1D-3292-E1B1-5C7AFCE2BCF3}"/>
              </a:ext>
            </a:extLst>
          </p:cNvPr>
          <p:cNvSpPr txBox="1"/>
          <p:nvPr/>
        </p:nvSpPr>
        <p:spPr>
          <a:xfrm>
            <a:off x="7669161" y="9778181"/>
            <a:ext cx="351011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CSA1711-10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02ABC-158C-07C4-0D32-6DA32D859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77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60985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24F885-1821-1D84-71A7-015A68CDD658}"/>
              </a:ext>
            </a:extLst>
          </p:cNvPr>
          <p:cNvSpPr txBox="1"/>
          <p:nvPr/>
        </p:nvSpPr>
        <p:spPr>
          <a:xfrm>
            <a:off x="501444" y="1825268"/>
            <a:ext cx="12182169" cy="77251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successfully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recognizes registered students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webcam.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automatically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successful face recognition.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details such as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ID, name, date, and time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recorded in the database.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reduces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for manual attendance.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prevented by checking the existing attendance record.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can identify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faces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avoid marking attendance for unregistered students.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records can be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viewed and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system.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useful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reports and attendance percentages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9EEA2-9F58-F576-D458-E46514913FE9}"/>
              </a:ext>
            </a:extLst>
          </p:cNvPr>
          <p:cNvSpPr txBox="1"/>
          <p:nvPr/>
        </p:nvSpPr>
        <p:spPr>
          <a:xfrm>
            <a:off x="3952567" y="619432"/>
            <a:ext cx="9085008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45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RESULTS AND DISCUSSION</a:t>
            </a:r>
          </a:p>
        </p:txBody>
      </p:sp>
      <p:pic>
        <p:nvPicPr>
          <p:cNvPr id="6" name="Picture 5" descr="Predictive Analytics in Learner Success">
            <a:extLst>
              <a:ext uri="{FF2B5EF4-FFF2-40B4-BE49-F238E27FC236}">
                <a16:creationId xmlns:a16="http://schemas.microsoft.com/office/drawing/2014/main" id="{78ED23D6-5090-CB92-4EE4-B4F722C1B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9969" y="2487917"/>
            <a:ext cx="4936587" cy="6154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C1FB90-1284-FDFC-B78A-B40CD9DD344B}"/>
              </a:ext>
            </a:extLst>
          </p:cNvPr>
          <p:cNvSpPr txBox="1"/>
          <p:nvPr/>
        </p:nvSpPr>
        <p:spPr>
          <a:xfrm>
            <a:off x="6695769" y="9711813"/>
            <a:ext cx="3834580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CSA17111-11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2800476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D6FDF-B0BD-F120-B1A8-B40C4AB480F0}"/>
              </a:ext>
            </a:extLst>
          </p:cNvPr>
          <p:cNvSpPr txBox="1"/>
          <p:nvPr/>
        </p:nvSpPr>
        <p:spPr>
          <a:xfrm>
            <a:off x="464572" y="1654981"/>
            <a:ext cx="11842956" cy="84638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Face Recognition Attendance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automated and efficient method for managing student attendance.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successfully 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Computer Vision, and Face Recognition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students.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automatically records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 date, and time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 work.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human errors and prevent proxy attendance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records are securely stored in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can be easily accessed.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makes it easier for teachers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attendance and generate reports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proposed system provides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accurate, reliable, and user-friendly solution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attendance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3F9DB-C075-A1C9-1FB7-9B511F53D795}"/>
              </a:ext>
            </a:extLst>
          </p:cNvPr>
          <p:cNvSpPr txBox="1"/>
          <p:nvPr/>
        </p:nvSpPr>
        <p:spPr>
          <a:xfrm>
            <a:off x="3952568" y="1032387"/>
            <a:ext cx="5663380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6" name="Picture 5" descr="Student performance analysis Images - Free Download on Magnific (formerly  Freepik)">
            <a:extLst>
              <a:ext uri="{FF2B5EF4-FFF2-40B4-BE49-F238E27FC236}">
                <a16:creationId xmlns:a16="http://schemas.microsoft.com/office/drawing/2014/main" id="{AF2EA916-A267-0413-4ECB-D6D8C135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639" y="1987784"/>
            <a:ext cx="5193584" cy="71373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E29783-0D19-D986-26D1-240052D8C63A}"/>
              </a:ext>
            </a:extLst>
          </p:cNvPr>
          <p:cNvSpPr txBox="1"/>
          <p:nvPr/>
        </p:nvSpPr>
        <p:spPr>
          <a:xfrm>
            <a:off x="6002594" y="9630697"/>
            <a:ext cx="3288890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CSA1711-1</a:t>
            </a:r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542910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D44D85-6992-8AA3-269D-9DF6416004C8}"/>
              </a:ext>
            </a:extLst>
          </p:cNvPr>
          <p:cNvSpPr txBox="1"/>
          <p:nvPr/>
        </p:nvSpPr>
        <p:spPr>
          <a:xfrm>
            <a:off x="818535" y="3119877"/>
            <a:ext cx="9807677" cy="5616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600" dirty="0"/>
              <a:t>• OpenCV Documentation – Computer Vision and Face Detection</a:t>
            </a:r>
            <a:br>
              <a:rPr lang="en-IN" sz="3600" dirty="0"/>
            </a:br>
            <a:r>
              <a:rPr lang="en-IN" sz="36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OpenCV Documentation</a:t>
            </a:r>
            <a:endParaRPr lang="en-IN" sz="3600" dirty="0">
              <a:solidFill>
                <a:schemeClr val="tx1"/>
              </a:solidFill>
            </a:endParaRPr>
          </a:p>
          <a:p>
            <a:r>
              <a:rPr lang="en-IN" sz="3600" dirty="0"/>
              <a:t>• Python Documentation – Python Programming Language</a:t>
            </a:r>
            <a:br>
              <a:rPr lang="en-IN" sz="3600" dirty="0"/>
            </a:br>
            <a:r>
              <a:rPr lang="en-IN" sz="36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Documentation</a:t>
            </a:r>
            <a:endParaRPr lang="en-IN" sz="3600" dirty="0">
              <a:solidFill>
                <a:schemeClr val="tx1"/>
              </a:solidFill>
            </a:endParaRPr>
          </a:p>
          <a:p>
            <a:r>
              <a:rPr lang="en-IN" sz="3600" dirty="0"/>
              <a:t>• Flask Documentation – Web Application Development</a:t>
            </a:r>
            <a:br>
              <a:rPr lang="en-IN" sz="3600" dirty="0"/>
            </a:br>
            <a:r>
              <a:rPr lang="en-IN" sz="36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Flask Documentation</a:t>
            </a:r>
            <a:endParaRPr lang="en-IN" sz="3600" dirty="0">
              <a:solidFill>
                <a:schemeClr val="tx1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4E140-9AB9-6FB7-96B9-CF9A2D54E4CC}"/>
              </a:ext>
            </a:extLst>
          </p:cNvPr>
          <p:cNvSpPr txBox="1"/>
          <p:nvPr/>
        </p:nvSpPr>
        <p:spPr>
          <a:xfrm>
            <a:off x="5722374" y="1194619"/>
            <a:ext cx="5589639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6" name="Picture 5" descr="How Predictive Analytics Can Boost Student Success Rates | Full Fabric">
            <a:extLst>
              <a:ext uri="{FF2B5EF4-FFF2-40B4-BE49-F238E27FC236}">
                <a16:creationId xmlns:a16="http://schemas.microsoft.com/office/drawing/2014/main" id="{ACA8866C-F2DD-022C-E6F8-F0ABFDC5E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4531" y="2942897"/>
            <a:ext cx="5971868" cy="45640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557CD6-CCB4-590C-1847-F0E74CD4FF0B}"/>
              </a:ext>
            </a:extLst>
          </p:cNvPr>
          <p:cNvSpPr txBox="1"/>
          <p:nvPr/>
        </p:nvSpPr>
        <p:spPr>
          <a:xfrm>
            <a:off x="6533536" y="9790326"/>
            <a:ext cx="4232787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CSA1711-13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1829062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2"/>
          <p:cNvSpPr txBox="1"/>
          <p:nvPr/>
        </p:nvSpPr>
        <p:spPr>
          <a:xfrm>
            <a:off x="5203478" y="2887183"/>
            <a:ext cx="7881047" cy="1873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900"/>
              </a:lnSpc>
              <a:defRPr sz="9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YOU!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7660033" y="4775074"/>
            <a:ext cx="2967933" cy="50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ANY QUESTIONS?</a:t>
            </a:r>
          </a:p>
        </p:txBody>
      </p:sp>
      <p:sp>
        <p:nvSpPr>
          <p:cNvPr id="165" name="Freeform 4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66" name="Freeform 5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1050</Words>
  <Application>Microsoft Office PowerPoint</Application>
  <PresentationFormat>Custom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Helvetica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 raja</dc:creator>
  <cp:lastModifiedBy>kambhoji thanuja</cp:lastModifiedBy>
  <cp:revision>5</cp:revision>
  <dcterms:modified xsi:type="dcterms:W3CDTF">2026-08-27T03:23:41Z</dcterms:modified>
</cp:coreProperties>
</file>